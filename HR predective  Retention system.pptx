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4" r:id="rId4"/>
    <p:sldId id="257" r:id="rId5"/>
    <p:sldId id="265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1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B581A9-43E2-4C20-BB8E-E85F241D637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43248" y="0"/>
            <a:ext cx="887104" cy="887104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innerShdw blurRad="63500" dist="50800" dir="13500000">
              <a:schemeClr val="accent6">
                <a:lumMod val="50000"/>
                <a:alpha val="50000"/>
              </a:schemeClr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1320F6-F92C-8A4A-4C24-5E7F8363885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" y="0"/>
            <a:ext cx="1160060" cy="8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1856" y="799829"/>
            <a:ext cx="60678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dirty="0"/>
              <a:t>GRADUATION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843" y="3057371"/>
            <a:ext cx="507831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    HR Predictive 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Retention Strategy </a:t>
            </a:r>
            <a:endParaRPr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9522" y="508000"/>
            <a:ext cx="98584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dirty="0"/>
              <a:t>Project </a:t>
            </a:r>
            <a:r>
              <a:rPr sz="4800" b="1" dirty="0">
                <a:solidFill>
                  <a:srgbClr val="FFC800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64447"/>
            <a:ext cx="6487738" cy="41242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bg1"/>
                </a:solidFill>
              </a:rPr>
              <a:t>Project Name: HR Predictive Retention Strategy </a:t>
            </a:r>
            <a:endParaRPr sz="1600" dirty="0"/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sz="2400" b="1" dirty="0">
                <a:solidFill>
                  <a:schemeClr val="bg1"/>
                </a:solidFill>
              </a:rPr>
              <a:t>Team Members</a:t>
            </a:r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  <a:defRPr sz="2800">
                <a:solidFill>
                  <a:srgbClr val="E6E6E6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  	Muhammad Imran</a:t>
            </a:r>
          </a:p>
          <a:p>
            <a:pPr marL="457200" indent="-457200">
              <a:buFont typeface="+mj-lt"/>
              <a:buAutoNum type="arabicPeriod"/>
              <a:defRPr sz="2800">
                <a:solidFill>
                  <a:srgbClr val="E6E6E6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	sherif Elmahdy </a:t>
            </a:r>
          </a:p>
          <a:p>
            <a:pPr marL="457200" indent="-457200">
              <a:buFont typeface="+mj-lt"/>
              <a:buAutoNum type="arabicPeriod"/>
              <a:defRPr sz="2800">
                <a:solidFill>
                  <a:srgbClr val="E6E6E6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	Ahmed El </a:t>
            </a:r>
            <a:r>
              <a:rPr lang="en-US" sz="2400" b="1" dirty="0" err="1">
                <a:solidFill>
                  <a:schemeClr val="bg1"/>
                </a:solidFill>
              </a:rPr>
              <a:t>safii</a:t>
            </a:r>
            <a:endParaRPr lang="en-US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  <a:defRPr sz="2800">
                <a:solidFill>
                  <a:srgbClr val="E6E6E6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	Fatma Salah </a:t>
            </a:r>
          </a:p>
          <a:p>
            <a:pPr marL="457200" indent="-457200">
              <a:buFont typeface="+mj-lt"/>
              <a:buAutoNum type="arabicPeriod"/>
              <a:defRPr sz="2800">
                <a:solidFill>
                  <a:srgbClr val="E6E6E6"/>
                </a:solidFill>
              </a:defRPr>
            </a:pPr>
            <a:r>
              <a:rPr lang="en-US" sz="2400" b="1" dirty="0">
                <a:solidFill>
                  <a:schemeClr val="bg1"/>
                </a:solidFill>
              </a:rPr>
              <a:t>	Heba </a:t>
            </a:r>
            <a:r>
              <a:rPr lang="en-US" sz="2400" b="1" dirty="0" err="1">
                <a:solidFill>
                  <a:schemeClr val="bg1"/>
                </a:solidFill>
              </a:rPr>
              <a:t>Alhssaniy</a:t>
            </a:r>
            <a:endParaRPr sz="2400" b="1" dirty="0">
              <a:solidFill>
                <a:schemeClr val="bg1"/>
              </a:solidFill>
            </a:endParaRP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Supervisor</a:t>
            </a:r>
            <a:r>
              <a:rPr lang="en-US" sz="2400" b="1" dirty="0">
                <a:solidFill>
                  <a:schemeClr val="bg1"/>
                </a:solidFill>
              </a:rPr>
              <a:t> : Ahmed Ayman </a:t>
            </a:r>
          </a:p>
          <a:p>
            <a:pPr>
              <a:defRPr sz="2800">
                <a:solidFill>
                  <a:srgbClr val="E6E6E6"/>
                </a:solidFill>
              </a:defRPr>
            </a:pPr>
            <a:endParaRPr sz="2400" b="1" dirty="0">
              <a:solidFill>
                <a:schemeClr val="bg1"/>
              </a:solidFill>
            </a:endParaRP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sz="2400" b="1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ITC_GHR3_DAT1_G1</a:t>
            </a:r>
            <a:endParaRPr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4F02-638A-93D0-982A-6021867C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800"/>
                </a:solidFill>
              </a:rPr>
              <a:t>why we are here today </a:t>
            </a:r>
            <a:br>
              <a:rPr lang="en-US" b="1" dirty="0">
                <a:solidFill>
                  <a:srgbClr val="FFC8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F672-2CC6-D501-7A60-894DB881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Every organization has one silent challenge that shapes its success: keeping its people.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Over the last few years, companies have been losing talented employees faster than ever—often without warning.</a:t>
            </a:r>
          </a:p>
          <a:p>
            <a:r>
              <a:rPr lang="en-US" sz="2400" dirty="0">
                <a:solidFill>
                  <a:schemeClr val="bg1"/>
                </a:solidFill>
              </a:rPr>
              <a:t>Our project began with a simple question: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“Can we predict when an employee is likely to leave, before they actually do?”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And this is where our journey started.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Company Status: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We learned that despite a solid </a:t>
            </a:r>
            <a:r>
              <a:rPr lang="en-US" sz="2400" b="1" dirty="0">
                <a:solidFill>
                  <a:schemeClr val="bg1"/>
                </a:solidFill>
              </a:rPr>
              <a:t>84% retention rate</a:t>
            </a:r>
            <a:r>
              <a:rPr lang="en-US" sz="2400" dirty="0">
                <a:solidFill>
                  <a:schemeClr val="bg1"/>
                </a:solidFill>
              </a:rPr>
              <a:t>, hidden patterns were quietly pushing employees out.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08000"/>
            <a:ext cx="280378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</a:t>
            </a:r>
            <a:r>
              <a:rPr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59000"/>
            <a:ext cx="7846763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Before taking you through our solution, let me share the story behind it:</a:t>
            </a:r>
          </a:p>
          <a:p>
            <a:endParaRPr sz="2000" b="1" dirty="0"/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lang="en-US" sz="2800" dirty="0">
                <a:solidFill>
                  <a:srgbClr val="E6E6E6"/>
                </a:solidFill>
              </a:rPr>
              <a:t>Project overview </a:t>
            </a:r>
            <a:endParaRPr sz="2800" dirty="0">
              <a:solidFill>
                <a:srgbClr val="E6E6E6"/>
              </a:solidFill>
            </a:endParaRP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lang="en-US" sz="2800" dirty="0">
                <a:solidFill>
                  <a:schemeClr val="bg1"/>
                </a:solidFill>
              </a:rPr>
              <a:t>The Business challenge </a:t>
            </a: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lang="en-US" sz="2800" dirty="0"/>
              <a:t>The Solution and Business Impact</a:t>
            </a: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</a:t>
            </a:r>
            <a:r>
              <a:rPr lang="en-US" sz="2800" dirty="0"/>
              <a:t>Detailed Analytical Findings</a:t>
            </a: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Demo</a:t>
            </a:r>
          </a:p>
          <a:p>
            <a:pPr>
              <a:defRPr sz="2800">
                <a:solidFill>
                  <a:srgbClr val="E6E6E6"/>
                </a:solidFill>
              </a:defRPr>
            </a:pPr>
            <a:r>
              <a:rPr dirty="0"/>
              <a:t>•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EB95-EB66-F117-F93B-2A4B0BD1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CF9D8E-A890-A838-9E4D-A0924CABB977}"/>
              </a:ext>
            </a:extLst>
          </p:cNvPr>
          <p:cNvSpPr txBox="1"/>
          <p:nvPr/>
        </p:nvSpPr>
        <p:spPr>
          <a:xfrm>
            <a:off x="2079522" y="508000"/>
            <a:ext cx="98584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dirty="0"/>
              <a:t>Project </a:t>
            </a:r>
            <a:r>
              <a:rPr sz="4800" b="1" dirty="0">
                <a:solidFill>
                  <a:srgbClr val="FFC800"/>
                </a:solidFill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ED25B-4D78-7082-069F-D041EBE054C6}"/>
              </a:ext>
            </a:extLst>
          </p:cNvPr>
          <p:cNvSpPr txBox="1"/>
          <p:nvPr/>
        </p:nvSpPr>
        <p:spPr>
          <a:xfrm>
            <a:off x="762000" y="1964447"/>
            <a:ext cx="76232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Project Overview</a:t>
            </a:r>
          </a:p>
          <a:p>
            <a:r>
              <a:rPr lang="en-US" sz="2000" dirty="0">
                <a:solidFill>
                  <a:schemeClr val="bg1"/>
                </a:solidFill>
              </a:rPr>
              <a:t>Our project—</a:t>
            </a:r>
            <a:r>
              <a:rPr lang="en-US" sz="2000" b="1" dirty="0">
                <a:solidFill>
                  <a:schemeClr val="bg1"/>
                </a:solidFill>
              </a:rPr>
              <a:t>HR Predictive Insights System</a:t>
            </a:r>
            <a:r>
              <a:rPr lang="en-US" sz="2000" dirty="0">
                <a:solidFill>
                  <a:schemeClr val="bg1"/>
                </a:solidFill>
              </a:rPr>
              <a:t>—was built to give HR leaders visibility they never had before.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Technologies we used: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Python, Machine Learning, Data Visualization, Power BI</a:t>
            </a:r>
          </a:p>
          <a:p>
            <a:r>
              <a:rPr lang="en-US" sz="2000" dirty="0">
                <a:solidFill>
                  <a:schemeClr val="bg1"/>
                </a:solidFill>
              </a:rPr>
              <a:t>We analyzed </a:t>
            </a:r>
            <a:r>
              <a:rPr lang="en-US" sz="2000" b="1" dirty="0">
                <a:solidFill>
                  <a:schemeClr val="bg1"/>
                </a:solidFill>
              </a:rPr>
              <a:t>1,470 employee records</a:t>
            </a:r>
            <a:r>
              <a:rPr lang="en-US" sz="2000" dirty="0">
                <a:solidFill>
                  <a:schemeClr val="bg1"/>
                </a:solidFill>
              </a:rPr>
              <a:t>, each one telling a small part of a much bigger story.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Key Discovery: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Overall attrition stands at </a:t>
            </a:r>
            <a:r>
              <a:rPr lang="en-US" sz="2000" b="1" dirty="0">
                <a:solidFill>
                  <a:schemeClr val="bg1"/>
                </a:solidFill>
              </a:rPr>
              <a:t>16%</a:t>
            </a:r>
            <a:r>
              <a:rPr lang="en-US" sz="2000" dirty="0">
                <a:solidFill>
                  <a:schemeClr val="bg1"/>
                </a:solidFill>
              </a:rPr>
              <a:t>, but that number hides important variations across job roles, ages, and work patterns.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This pushed us deeper into the data.</a:t>
            </a:r>
          </a:p>
          <a:p>
            <a:endParaRPr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73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370" y="50800"/>
            <a:ext cx="651614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    </a:t>
            </a:r>
            <a:r>
              <a:rPr dirty="0"/>
              <a:t>Problem Statement</a:t>
            </a:r>
            <a:endParaRPr lang="en-US" sz="1000" dirty="0"/>
          </a:p>
          <a:p>
            <a:pPr>
              <a:defRPr sz="4800" b="1">
                <a:solidFill>
                  <a:srgbClr val="FFC800"/>
                </a:solidFill>
              </a:defRPr>
            </a:pPr>
            <a:r>
              <a:rPr lang="en-US" sz="1000" dirty="0"/>
              <a:t>				</a:t>
            </a:r>
            <a:r>
              <a:rPr lang="en-US" dirty="0"/>
              <a:t>	</a:t>
            </a:r>
            <a:r>
              <a:rPr lang="en-US" sz="2400" dirty="0">
                <a:solidFill>
                  <a:schemeClr val="bg1"/>
                </a:solidFill>
              </a:rPr>
              <a:t>The Business challenge </a:t>
            </a:r>
            <a:endParaRPr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218873" y="1721796"/>
            <a:ext cx="87062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we explored the data, certain groups began to stand out—almost like characters in a story where each one had a reason to leave.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1. The Sales Team – The Struggle Behind the Numbers</a:t>
            </a:r>
          </a:p>
          <a:p>
            <a:r>
              <a:rPr lang="en-US" sz="1600" dirty="0">
                <a:solidFill>
                  <a:schemeClr val="bg1"/>
                </a:solidFill>
              </a:rPr>
              <a:t>Attrition: </a:t>
            </a:r>
            <a:r>
              <a:rPr lang="en-US" sz="1600" b="1" dirty="0">
                <a:solidFill>
                  <a:schemeClr val="bg1"/>
                </a:solidFill>
              </a:rPr>
              <a:t>~</a:t>
            </a:r>
            <a:r>
              <a:rPr lang="en-US" sz="1600" b="1" dirty="0">
                <a:solidFill>
                  <a:srgbClr val="FFC800"/>
                </a:solidFill>
              </a:rPr>
              <a:t>21%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Many left because their </a:t>
            </a:r>
            <a:r>
              <a:rPr lang="en-US" sz="1600" b="1" dirty="0">
                <a:solidFill>
                  <a:schemeClr val="bg1"/>
                </a:solidFill>
              </a:rPr>
              <a:t>salary didn’t match the pressure of the job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2. Sales Representatives – The Highest Risk Group</a:t>
            </a:r>
          </a:p>
          <a:p>
            <a:r>
              <a:rPr lang="en-US" sz="1600" dirty="0">
                <a:solidFill>
                  <a:schemeClr val="bg1"/>
                </a:solidFill>
              </a:rPr>
              <a:t>Attrition: </a:t>
            </a:r>
            <a:r>
              <a:rPr lang="en-US" sz="1600" b="1" dirty="0">
                <a:solidFill>
                  <a:schemeClr val="bg1"/>
                </a:solidFill>
              </a:rPr>
              <a:t>~</a:t>
            </a:r>
            <a:r>
              <a:rPr lang="en-US" sz="1600" b="1" dirty="0">
                <a:solidFill>
                  <a:srgbClr val="FFC800"/>
                </a:solidFill>
              </a:rPr>
              <a:t>40%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This role emerged as the most fragile.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The story was clear: without </a:t>
            </a:r>
            <a:r>
              <a:rPr lang="en-US" sz="1600" b="1" dirty="0">
                <a:solidFill>
                  <a:schemeClr val="bg1"/>
                </a:solidFill>
              </a:rPr>
              <a:t>better salary and commission</a:t>
            </a:r>
            <a:r>
              <a:rPr lang="en-US" sz="1600" dirty="0">
                <a:solidFill>
                  <a:schemeClr val="bg1"/>
                </a:solidFill>
              </a:rPr>
              <a:t>, they simply couldn’t stay.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3. Frequent Travelers – The Burnout Group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Attrition: </a:t>
            </a:r>
            <a:r>
              <a:rPr lang="en-US" sz="1600" b="1" dirty="0">
                <a:solidFill>
                  <a:schemeClr val="bg1"/>
                </a:solidFill>
              </a:rPr>
              <a:t>~</a:t>
            </a:r>
            <a:r>
              <a:rPr lang="en-US" b="1" dirty="0">
                <a:solidFill>
                  <a:srgbClr val="FFC800"/>
                </a:solidFill>
              </a:rPr>
              <a:t>25%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These employees were constantly on the move.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Traveling wasn’t just part of their job—it became their entire life.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4. Young Employees (20–29) – The Early </a:t>
            </a:r>
            <a:r>
              <a:rPr lang="en-US" sz="1600" b="1" dirty="0" err="1">
                <a:solidFill>
                  <a:schemeClr val="bg1"/>
                </a:solidFill>
              </a:rPr>
              <a:t>Exiters</a:t>
            </a: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Attrition: </a:t>
            </a:r>
            <a:r>
              <a:rPr lang="en-US" sz="1600" b="1" dirty="0">
                <a:solidFill>
                  <a:schemeClr val="bg1"/>
                </a:solidFill>
              </a:rPr>
              <a:t>~</a:t>
            </a:r>
            <a:r>
              <a:rPr lang="en-US" sz="1600" b="1" dirty="0">
                <a:solidFill>
                  <a:srgbClr val="FFC800"/>
                </a:solidFill>
              </a:rPr>
              <a:t>21%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This group needed more support, mentorship, and career direction than they were getting.</a:t>
            </a:r>
          </a:p>
          <a:p>
            <a:r>
              <a:rPr lang="en-US" sz="1600" dirty="0">
                <a:solidFill>
                  <a:schemeClr val="bg1"/>
                </a:solidFill>
              </a:rPr>
              <a:t>Every segment pointed to one conclusion: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The company wasn’t losing employees randomly. It was losing them for predictable reasons.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08000"/>
            <a:ext cx="58950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  </a:t>
            </a:r>
            <a:r>
              <a:rPr dirty="0"/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365" y="1857983"/>
            <a:ext cx="812534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we built something simple, practical, and powerful: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Our AI Retention Predictor</a:t>
            </a:r>
          </a:p>
          <a:p>
            <a:r>
              <a:rPr lang="en-US" sz="2000" dirty="0">
                <a:solidFill>
                  <a:schemeClr val="bg1"/>
                </a:solidFill>
              </a:rPr>
              <a:t>It answers a critical question: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“How many years will this employee likely stay?”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system becomes a predictive storyteller:</a:t>
            </a:r>
          </a:p>
          <a:p>
            <a:r>
              <a:rPr lang="en-US" sz="2000" dirty="0">
                <a:solidFill>
                  <a:schemeClr val="bg1"/>
                </a:solidFill>
              </a:rPr>
              <a:t>It identifies employees who may leave soon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It gives HR early alerts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It helps leaders adjust salaries, plan promotions, and provide training before it’s too late</a:t>
            </a:r>
          </a:p>
          <a:p>
            <a:r>
              <a:rPr lang="en-US" sz="2000" dirty="0">
                <a:solidFill>
                  <a:schemeClr val="bg1"/>
                </a:solidFill>
              </a:rPr>
              <a:t>And it does this using just a few strong inputs: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Salary • Age • Job Role • Business Travel Frequency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These four factors tell more than you might expect.</a:t>
            </a:r>
          </a:p>
          <a:p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08000"/>
            <a:ext cx="540744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     </a:t>
            </a:r>
            <a:r>
              <a:rPr dirty="0"/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102" y="2256276"/>
            <a:ext cx="821338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Here’s the journey an employee’s data takes inside the system: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Step 1 — Input: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HR enters employee details (job role, salary, age, travel frequency, etc.)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Step 2 — The AI Engine: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The model analyzes patterns learned from the 1,470 employees.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Step 3 — The Dashboard: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The system returns a predicted tenure and labels the risk level.</a:t>
            </a:r>
          </a:p>
          <a:p>
            <a:r>
              <a:rPr lang="en-US" sz="2000" dirty="0">
                <a:solidFill>
                  <a:schemeClr val="bg1"/>
                </a:solidFill>
              </a:rPr>
              <a:t>Over time, we learned that four predictors were consistently the strongest: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Job Role, Salary, Age, and Business Travel.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These became the backbone of the AI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08000"/>
            <a:ext cx="670356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    </a:t>
            </a:r>
            <a:r>
              <a:rPr dirty="0"/>
              <a:t>Demo / Screenshots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08000"/>
            <a:ext cx="416652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800"/>
                </a:solidFill>
              </a:defRPr>
            </a:pPr>
            <a:r>
              <a:rPr lang="ar-EG" dirty="0"/>
              <a:t>       </a:t>
            </a: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1" y="1643434"/>
            <a:ext cx="79518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After completing the system, the story became clear:</a:t>
            </a:r>
          </a:p>
          <a:p>
            <a:r>
              <a:rPr lang="en-US" dirty="0">
                <a:solidFill>
                  <a:schemeClr val="bg1"/>
                </a:solidFill>
              </a:rPr>
              <a:t>The company is stable overall, but three areas urgently need attention.</a:t>
            </a:r>
          </a:p>
          <a:p>
            <a:r>
              <a:rPr lang="en-US" b="1" dirty="0">
                <a:solidFill>
                  <a:schemeClr val="bg1"/>
                </a:solidFill>
              </a:rPr>
              <a:t>Top 3 Action Priorities</a:t>
            </a:r>
          </a:p>
          <a:p>
            <a:r>
              <a:rPr lang="en-US" b="1" dirty="0">
                <a:solidFill>
                  <a:schemeClr val="bg1"/>
                </a:solidFill>
              </a:rPr>
              <a:t>1. Review Sales Pay Structure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Sales Representatives are at the highest risk. Adjusting salary and commission is critical.</a:t>
            </a:r>
          </a:p>
          <a:p>
            <a:r>
              <a:rPr lang="en-US" b="1" dirty="0">
                <a:solidFill>
                  <a:schemeClr val="bg1"/>
                </a:solidFill>
              </a:rPr>
              <a:t>2. Reduce Travel Burden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Frequent travelers need rest days, benefits, or better rotation systems.</a:t>
            </a:r>
          </a:p>
          <a:p>
            <a:r>
              <a:rPr lang="en-US" b="1" dirty="0">
                <a:solidFill>
                  <a:schemeClr val="bg1"/>
                </a:solidFill>
              </a:rPr>
              <a:t>3. Support Younger Employees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Early-career programs, mentorship, and training can significantly reduce exits.</a:t>
            </a:r>
          </a:p>
          <a:p>
            <a:r>
              <a:rPr lang="en-US" b="1" dirty="0">
                <a:solidFill>
                  <a:schemeClr val="bg1"/>
                </a:solidFill>
              </a:rPr>
              <a:t>Next Steps</a:t>
            </a:r>
          </a:p>
          <a:p>
            <a:r>
              <a:rPr lang="en-US" dirty="0">
                <a:solidFill>
                  <a:schemeClr val="bg1"/>
                </a:solidFill>
              </a:rPr>
              <a:t>We plan to continuously refine the AI model and expand it with more features—so the story of employee retention becomes more predictable, and HR can act sooner.</a:t>
            </a:r>
          </a:p>
          <a:p>
            <a:r>
              <a:rPr lang="en-US" b="1" dirty="0">
                <a:solidFill>
                  <a:schemeClr val="bg1"/>
                </a:solidFill>
              </a:rPr>
              <a:t>Our journey doesn’t end with prediction.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It begins with action.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827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why we are here today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deda</dc:creator>
  <cp:keywords/>
  <dc:description>generated using python-pptx</dc:description>
  <cp:lastModifiedBy>muhammad hassan imran</cp:lastModifiedBy>
  <cp:revision>4</cp:revision>
  <dcterms:created xsi:type="dcterms:W3CDTF">2013-01-27T09:14:16Z</dcterms:created>
  <dcterms:modified xsi:type="dcterms:W3CDTF">2025-12-01T16:28:07Z</dcterms:modified>
  <cp:category/>
</cp:coreProperties>
</file>